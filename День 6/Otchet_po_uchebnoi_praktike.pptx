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64" r:id="rId5"/>
    <p:sldId id="265" r:id="rId6"/>
    <p:sldId id="266" r:id="rId7"/>
    <p:sldId id="268" r:id="rId8"/>
    <p:sldId id="269" r:id="rId9"/>
    <p:sldId id="271" r:id="rId10"/>
    <p:sldId id="262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97" autoAdjust="0"/>
  </p:normalViewPr>
  <p:slideViewPr>
    <p:cSldViewPr>
      <p:cViewPr varScale="1">
        <p:scale>
          <a:sx n="60" d="100"/>
          <a:sy n="60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EB5B1-0927-4448-A8BC-FA488532DF2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C214C-7B51-4D5E-B8D7-C469CB1E0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24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60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015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14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58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42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30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7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97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1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67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0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9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F8A3-FB47-419B-B922-FB495021C6E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5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9376" y="1700809"/>
            <a:ext cx="11449272" cy="1899642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ПМ.11. Разработка, администрирование и защита баз данных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Учёт результатов тестирования учащихся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332657"/>
            <a:ext cx="8803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бюджетное учреждение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1864" y="630932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1DBC0EC8-FDED-D477-2684-3D9573E7A6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BD7BE1C-B01F-823D-AFE4-712C65A33E87}"/>
              </a:ext>
            </a:extLst>
          </p:cNvPr>
          <p:cNvSpPr/>
          <p:nvPr/>
        </p:nvSpPr>
        <p:spPr>
          <a:xfrm>
            <a:off x="7512606" y="3786106"/>
            <a:ext cx="4939188" cy="195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</a:t>
            </a:r>
            <a:r>
              <a:rPr lang="en-US" sz="16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Исупов Дмитрий Андреевич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23П-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пециальность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09.02.07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Информационные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системы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программирование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обучения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очная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</a:t>
            </a:r>
            <a:r>
              <a:rPr lang="en-US" sz="16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Калинин Арсений Олегович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4" descr="touch-icon-ipad-retina">
            <a:extLst>
              <a:ext uri="{FF2B5EF4-FFF2-40B4-BE49-F238E27FC236}">
                <a16:creationId xmlns:a16="http://schemas.microsoft.com/office/drawing/2014/main" id="{32B953BD-91A1-EF69-41C2-3A26F36F3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248703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86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77C071E-491B-99FD-C313-C9478983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10CE8E4-3C1D-C9C9-3BBD-06E59024F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AB90E-C028-F389-D662-853EB9F3014A}"/>
              </a:ext>
            </a:extLst>
          </p:cNvPr>
          <p:cNvSpPr txBox="1"/>
          <p:nvPr/>
        </p:nvSpPr>
        <p:spPr>
          <a:xfrm>
            <a:off x="767408" y="2461438"/>
            <a:ext cx="108149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«Учёт успеваемости и посещаемости».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БД (CASE-средства, нормализация до 3НФ).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БД в Microsoft SQL Server (таблицы, индексы, ограничения, процедуры, представления).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БД демонстрационными данными (≥1000 записей).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WPF-приложения (CRUD, оценки, посещаемость, отчёты).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резервного копирования (6 копий).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отчёта и презентации.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09D60-F5C1-A8FA-42FA-543734B889FD}"/>
              </a:ext>
            </a:extLst>
          </p:cNvPr>
          <p:cNvSpPr txBox="1"/>
          <p:nvPr/>
        </p:nvSpPr>
        <p:spPr>
          <a:xfrm>
            <a:off x="2207568" y="-52662"/>
            <a:ext cx="8003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практики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041EB-7A62-4B66-D476-282907A89ED8}"/>
              </a:ext>
            </a:extLst>
          </p:cNvPr>
          <p:cNvSpPr txBox="1"/>
          <p:nvPr/>
        </p:nvSpPr>
        <p:spPr>
          <a:xfrm>
            <a:off x="767408" y="907703"/>
            <a:ext cx="108149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приобретение практического опыта проектирования, разработки, администрирования и защиты баз данных, создание приложения для учёта успеваемости</a:t>
            </a:r>
          </a:p>
        </p:txBody>
      </p:sp>
    </p:spTree>
    <p:extLst>
      <p:ext uri="{BB962C8B-B14F-4D97-AF65-F5344CB8AC3E}">
        <p14:creationId xmlns:p14="http://schemas.microsoft.com/office/powerpoint/2010/main" val="311704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3F8DF-5618-B461-B7FC-665FA669DBBF}"/>
              </a:ext>
            </a:extLst>
          </p:cNvPr>
          <p:cNvSpPr txBox="1"/>
          <p:nvPr/>
        </p:nvSpPr>
        <p:spPr>
          <a:xfrm>
            <a:off x="1903512" y="-54225"/>
            <a:ext cx="8686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2AF3C-0C9A-2D14-3824-30D242DA3ADF}"/>
              </a:ext>
            </a:extLst>
          </p:cNvPr>
          <p:cNvSpPr txBox="1"/>
          <p:nvPr/>
        </p:nvSpPr>
        <p:spPr>
          <a:xfrm>
            <a:off x="225668" y="486101"/>
            <a:ext cx="363808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недостатки бумажного журнала: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трудоёмкость подсчёта средних баллов и отчётов;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оперативного доступа для учителей и родителей;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потери/порчи данных;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невозможность гибкой фильтрации.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975280-2860-CC8C-DC17-5AC21D2A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1" y="1153496"/>
            <a:ext cx="8144798" cy="5234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038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6A50B-12F0-5A69-699A-E02A0D81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A0B98-EADD-97CA-1CB1-00757FCEBDBE}"/>
              </a:ext>
            </a:extLst>
          </p:cNvPr>
          <p:cNvSpPr txBox="1"/>
          <p:nvPr/>
        </p:nvSpPr>
        <p:spPr>
          <a:xfrm>
            <a:off x="1914364" y="-128719"/>
            <a:ext cx="90309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объектов и атрибутов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6A78F-B020-8A92-5509-969ADEA2B634}"/>
              </a:ext>
            </a:extLst>
          </p:cNvPr>
          <p:cNvSpPr txBox="1"/>
          <p:nvPr/>
        </p:nvSpPr>
        <p:spPr>
          <a:xfrm>
            <a:off x="839416" y="520859"/>
            <a:ext cx="9030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 БД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1B7789D-0FD0-EC62-6AFB-CFE439BAD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22608"/>
              </p:ext>
            </p:extLst>
          </p:nvPr>
        </p:nvGraphicFramePr>
        <p:xfrm>
          <a:off x="216054" y="1044079"/>
          <a:ext cx="5879946" cy="55053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39973">
                  <a:extLst>
                    <a:ext uri="{9D8B030D-6E8A-4147-A177-3AD203B41FA5}">
                      <a16:colId xmlns:a16="http://schemas.microsoft.com/office/drawing/2014/main" val="2704359223"/>
                    </a:ext>
                  </a:extLst>
                </a:gridCol>
                <a:gridCol w="2939973">
                  <a:extLst>
                    <a:ext uri="{9D8B030D-6E8A-4147-A177-3AD203B41FA5}">
                      <a16:colId xmlns:a16="http://schemas.microsoft.com/office/drawing/2014/main" val="3314761973"/>
                    </a:ext>
                  </a:extLst>
                </a:gridCol>
              </a:tblGrid>
              <a:tr h="26761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Сущность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Ключевые атрибуты</a:t>
                      </a:r>
                    </a:p>
                  </a:txBody>
                  <a:tcPr marL="132791" marR="132791" marT="82994" marB="82994" anchor="ctr"/>
                </a:tc>
                <a:extLst>
                  <a:ext uri="{0D108BD9-81ED-4DB2-BD59-A6C34878D82A}">
                    <a16:rowId xmlns:a16="http://schemas.microsoft.com/office/drawing/2014/main" val="2002659226"/>
                  </a:ext>
                </a:extLst>
              </a:tr>
              <a:tr h="56323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Учащиеся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ID_ученика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ФИО,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Дата_рождения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ID_класса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Логин</a:t>
                      </a:r>
                    </a:p>
                  </a:txBody>
                  <a:tcPr marL="132791" marR="79675" marT="82994" marB="82994" anchor="ctr"/>
                </a:tc>
                <a:extLst>
                  <a:ext uri="{0D108BD9-81ED-4DB2-BD59-A6C34878D82A}">
                    <a16:rowId xmlns:a16="http://schemas.microsoft.com/office/drawing/2014/main" val="1360448242"/>
                  </a:ext>
                </a:extLst>
              </a:tr>
              <a:tr h="7052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Классы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ID_класса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Номер_класса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Буква_класса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Учебный_год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791" marR="79675" marT="82994" marB="82994" anchor="ctr"/>
                </a:tc>
                <a:extLst>
                  <a:ext uri="{0D108BD9-81ED-4DB2-BD59-A6C34878D82A}">
                    <a16:rowId xmlns:a16="http://schemas.microsoft.com/office/drawing/2014/main" val="2863471613"/>
                  </a:ext>
                </a:extLst>
              </a:tr>
              <a:tr h="5557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Предметы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ID_предмета, Название, Часов_в_неделю</a:t>
                      </a:r>
                    </a:p>
                  </a:txBody>
                  <a:tcPr marL="132791" marR="79675" marT="82994" marB="82994" anchor="ctr"/>
                </a:tc>
                <a:extLst>
                  <a:ext uri="{0D108BD9-81ED-4DB2-BD59-A6C34878D82A}">
                    <a16:rowId xmlns:a16="http://schemas.microsoft.com/office/drawing/2014/main" val="920750688"/>
                  </a:ext>
                </a:extLst>
              </a:tr>
              <a:tr h="56323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Оценки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ID_оценки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ID_ученика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ID_предмета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Дата, Оценка, Тип</a:t>
                      </a:r>
                    </a:p>
                  </a:txBody>
                  <a:tcPr marL="132791" marR="79675" marT="82994" marB="82994" anchor="ctr"/>
                </a:tc>
                <a:extLst>
                  <a:ext uri="{0D108BD9-81ED-4DB2-BD59-A6C34878D82A}">
                    <a16:rowId xmlns:a16="http://schemas.microsoft.com/office/drawing/2014/main" val="1735637004"/>
                  </a:ext>
                </a:extLst>
              </a:tr>
              <a:tr h="56323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Посещаемость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ID_посещаемости, ID_ученика, Дата, Статус, Примечание</a:t>
                      </a:r>
                    </a:p>
                  </a:txBody>
                  <a:tcPr marL="132791" marR="79675" marT="82994" marB="82994" anchor="ctr"/>
                </a:tc>
                <a:extLst>
                  <a:ext uri="{0D108BD9-81ED-4DB2-BD59-A6C34878D82A}">
                    <a16:rowId xmlns:a16="http://schemas.microsoft.com/office/drawing/2014/main" val="3521767464"/>
                  </a:ext>
                </a:extLst>
              </a:tr>
              <a:tr h="5557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Пользователи</a:t>
                      </a:r>
                    </a:p>
                  </a:txBody>
                  <a:tcPr marL="79675" marR="132791" marT="82994" marB="829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ID_пользователя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Логин,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Хеш_пароля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Роль</a:t>
                      </a:r>
                    </a:p>
                  </a:txBody>
                  <a:tcPr marL="132791" marR="79675" marT="82994" marB="82994" anchor="ctr"/>
                </a:tc>
                <a:extLst>
                  <a:ext uri="{0D108BD9-81ED-4DB2-BD59-A6C34878D82A}">
                    <a16:rowId xmlns:a16="http://schemas.microsoft.com/office/drawing/2014/main" val="2928173959"/>
                  </a:ext>
                </a:extLst>
              </a:tr>
            </a:tbl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B75BEBB-1684-3534-48D4-887885FC3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253" y="589015"/>
            <a:ext cx="5146182" cy="6268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942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C73A7-70DB-ABDF-5F9E-A581F117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D91A1-1449-3199-F6CA-E618C139ED82}"/>
              </a:ext>
            </a:extLst>
          </p:cNvPr>
          <p:cNvSpPr txBox="1"/>
          <p:nvPr/>
        </p:nvSpPr>
        <p:spPr>
          <a:xfrm>
            <a:off x="621940" y="1044079"/>
            <a:ext cx="51598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 в нотации «сущность–связь» (Microsoft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таблицы приведены к 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3НФ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1НФ: атомарные атрибуты.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2НФ: полная зависимость от первичного ключа (в таблице «Оценки»).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3НФ: отсутствие транзитивных зависимостей.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реализована в SQL Server.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5AD90-FBB4-069A-DA73-8722B249FB10}"/>
              </a:ext>
            </a:extLst>
          </p:cNvPr>
          <p:cNvSpPr txBox="1"/>
          <p:nvPr/>
        </p:nvSpPr>
        <p:spPr>
          <a:xfrm>
            <a:off x="1415480" y="-2280"/>
            <a:ext cx="100091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нормализация БД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F4288D-CFEE-51D5-A981-7080C13B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216" y="905670"/>
            <a:ext cx="5382376" cy="56776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671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C4954-C41F-0F11-86CE-9D1591DE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4C963-C73A-14EE-AFA2-EFFE5038FE9D}"/>
              </a:ext>
            </a:extLst>
          </p:cNvPr>
          <p:cNvSpPr txBox="1"/>
          <p:nvPr/>
        </p:nvSpPr>
        <p:spPr>
          <a:xfrm>
            <a:off x="609600" y="695097"/>
            <a:ext cx="113061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СУБД: 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 Express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таблицы, первичные/внешние ключи, ограничения CHECK.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Общее количество записей &gt;3300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(Таблица 2 из отчёта):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28FA-58E5-F810-A95E-B94BA52C06D0}"/>
              </a:ext>
            </a:extLst>
          </p:cNvPr>
          <p:cNvSpPr txBox="1"/>
          <p:nvPr/>
        </p:nvSpPr>
        <p:spPr>
          <a:xfrm>
            <a:off x="1981200" y="-44782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БД в SQL Server</a:t>
            </a:r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4D9C4B9F-81CA-6D70-57AA-3AB7BAD8E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593174DC-FCAE-3B44-1943-92773E2AB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55377"/>
              </p:ext>
            </p:extLst>
          </p:nvPr>
        </p:nvGraphicFramePr>
        <p:xfrm>
          <a:off x="277452" y="2445217"/>
          <a:ext cx="5026290" cy="386351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13145">
                  <a:extLst>
                    <a:ext uri="{9D8B030D-6E8A-4147-A177-3AD203B41FA5}">
                      <a16:colId xmlns:a16="http://schemas.microsoft.com/office/drawing/2014/main" val="887304102"/>
                    </a:ext>
                  </a:extLst>
                </a:gridCol>
                <a:gridCol w="2513145">
                  <a:extLst>
                    <a:ext uri="{9D8B030D-6E8A-4147-A177-3AD203B41FA5}">
                      <a16:colId xmlns:a16="http://schemas.microsoft.com/office/drawing/2014/main" val="341591197"/>
                    </a:ext>
                  </a:extLst>
                </a:gridCol>
              </a:tblGrid>
              <a:tr h="55193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Записей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734118531"/>
                  </a:ext>
                </a:extLst>
              </a:tr>
              <a:tr h="551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25389399"/>
                  </a:ext>
                </a:extLst>
              </a:tr>
              <a:tr h="551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Учащиеся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03201573"/>
                  </a:ext>
                </a:extLst>
              </a:tr>
              <a:tr h="551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6483008"/>
                  </a:ext>
                </a:extLst>
              </a:tr>
              <a:tr h="551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2777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01169707"/>
                  </a:ext>
                </a:extLst>
              </a:tr>
              <a:tr h="551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Посещаемость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434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29660453"/>
                  </a:ext>
                </a:extLst>
              </a:tr>
              <a:tr h="551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79660172"/>
                  </a:ext>
                </a:extLst>
              </a:tr>
            </a:tbl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728CBA0-C07C-573D-087D-7D296C729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2241150"/>
            <a:ext cx="6279892" cy="4431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777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0D22E-E919-0B50-1583-275C0993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A3AD7-6199-303A-83F5-82EC51F57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10890-A524-4A7B-DDD5-89F9A1658C89}"/>
              </a:ext>
            </a:extLst>
          </p:cNvPr>
          <p:cNvSpPr txBox="1"/>
          <p:nvPr/>
        </p:nvSpPr>
        <p:spPr>
          <a:xfrm>
            <a:off x="1775520" y="92075"/>
            <a:ext cx="8435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762F1-3BAA-96D6-D906-7D37BA633426}"/>
              </a:ext>
            </a:extLst>
          </p:cNvPr>
          <p:cNvSpPr txBox="1"/>
          <p:nvPr/>
        </p:nvSpPr>
        <p:spPr>
          <a:xfrm>
            <a:off x="191344" y="1044079"/>
            <a:ext cx="6000750" cy="5698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на уровне SQL Server:</a:t>
            </a:r>
            <a:endParaRPr lang="ru-RU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– полный доступ.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Учитель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– редактирование оценок/посещаемости.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Ученик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– только просмотр через представление.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клиентском приложении авторизация не реализована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(используется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Trusted_Connection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логины и пользователи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32ABEF-4CDD-BA6F-6757-9D8A5B79B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19" y="991699"/>
            <a:ext cx="6000750" cy="58037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962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6B634-9CD0-0B45-6DFF-8EA896A5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1553835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D2851-CD31-C9C6-435A-FFA768FB7B85}"/>
              </a:ext>
            </a:extLst>
          </p:cNvPr>
          <p:cNvSpPr txBox="1"/>
          <p:nvPr/>
        </p:nvSpPr>
        <p:spPr>
          <a:xfrm>
            <a:off x="1271464" y="-148176"/>
            <a:ext cx="107291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Пользователи, роли и представления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CFB420C-6117-35FE-2082-92D9CED4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152" y="228872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71D179-7B0E-257A-4E2C-7047C5F2B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0" y="615222"/>
            <a:ext cx="2761629" cy="22041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1B70E1-2B33-4CB3-7108-46168153D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31" y="3389559"/>
            <a:ext cx="2284295" cy="29220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842BD8-679E-5B34-52FB-DE21D69D5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228" y="556744"/>
            <a:ext cx="4179789" cy="5868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981C54-BEFC-D85E-D362-D3E04097D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160" y="691374"/>
            <a:ext cx="4060247" cy="5669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3AD8CC-7048-72BC-2DAE-6937BDE8EA66}"/>
              </a:ext>
            </a:extLst>
          </p:cNvPr>
          <p:cNvSpPr txBox="1"/>
          <p:nvPr/>
        </p:nvSpPr>
        <p:spPr>
          <a:xfrm>
            <a:off x="4027174" y="6356884"/>
            <a:ext cx="5790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Отчёт_Успеваемость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801483-AF1D-57C9-8722-C5D5266AFD1B}"/>
              </a:ext>
            </a:extLst>
          </p:cNvPr>
          <p:cNvSpPr txBox="1"/>
          <p:nvPr/>
        </p:nvSpPr>
        <p:spPr>
          <a:xfrm>
            <a:off x="8400256" y="6360750"/>
            <a:ext cx="5790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Ученик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64013D-B659-2920-B645-96CD7280C9AE}"/>
              </a:ext>
            </a:extLst>
          </p:cNvPr>
          <p:cNvSpPr txBox="1"/>
          <p:nvPr/>
        </p:nvSpPr>
        <p:spPr>
          <a:xfrm>
            <a:off x="149160" y="2852936"/>
            <a:ext cx="3231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пользователя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6A0364-60C8-550E-5D0D-2AAB1F8F6D59}"/>
              </a:ext>
            </a:extLst>
          </p:cNvPr>
          <p:cNvSpPr txBox="1"/>
          <p:nvPr/>
        </p:nvSpPr>
        <p:spPr>
          <a:xfrm>
            <a:off x="675" y="6311601"/>
            <a:ext cx="3771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Роли для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3271721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3F053-0264-0FDC-3119-FDFDAF84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1132E-45EB-6205-E0FB-CFAF0385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1553835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62187-037F-271A-59B4-D14DEC5623D4}"/>
              </a:ext>
            </a:extLst>
          </p:cNvPr>
          <p:cNvSpPr txBox="1"/>
          <p:nvPr/>
        </p:nvSpPr>
        <p:spPr>
          <a:xfrm>
            <a:off x="2970693" y="-165787"/>
            <a:ext cx="107291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Отчёты в клиентском приложении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5F17CC29-1935-752D-FE41-00EA42CFA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152" y="228872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24BD17-039B-EFE3-CCD4-B6A686D05C65}"/>
              </a:ext>
            </a:extLst>
          </p:cNvPr>
          <p:cNvSpPr txBox="1"/>
          <p:nvPr/>
        </p:nvSpPr>
        <p:spPr>
          <a:xfrm>
            <a:off x="61946" y="302359"/>
            <a:ext cx="363022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Отличники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топ‑5 (фильтр по классу).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балл по классам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по учебному году.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Успеваемость по предметам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фильтр по классу.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посещаемости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по классу и диапазону дат.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CSV и Excel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(библиотека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EPPlus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516D28-A0E2-15E3-E7A2-F7D55E41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218" y="540057"/>
            <a:ext cx="4969373" cy="3273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233D0E-0CD8-5E29-EA8A-2513A298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28" y="4174179"/>
            <a:ext cx="6840220" cy="23926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ED0E87C-C9DA-163D-A07B-4A4719743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229" y="1107880"/>
            <a:ext cx="3514725" cy="1514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756D73-ACB4-53B9-5854-C26F850092D5}"/>
              </a:ext>
            </a:extLst>
          </p:cNvPr>
          <p:cNvSpPr txBox="1"/>
          <p:nvPr/>
        </p:nvSpPr>
        <p:spPr>
          <a:xfrm>
            <a:off x="4415290" y="3770741"/>
            <a:ext cx="612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Отчёт «Отличники»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F0606-CE89-4AA8-ECBC-04BD7D3824FB}"/>
              </a:ext>
            </a:extLst>
          </p:cNvPr>
          <p:cNvSpPr txBox="1"/>
          <p:nvPr/>
        </p:nvSpPr>
        <p:spPr>
          <a:xfrm>
            <a:off x="3376628" y="6487811"/>
            <a:ext cx="751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Сводка посещаемости с группировкой по статусам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6F24F-50B1-B749-9E46-6CF2E4FF8602}"/>
              </a:ext>
            </a:extLst>
          </p:cNvPr>
          <p:cNvSpPr txBox="1"/>
          <p:nvPr/>
        </p:nvSpPr>
        <p:spPr>
          <a:xfrm>
            <a:off x="8753455" y="2502305"/>
            <a:ext cx="41488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отчёта, сохранённого в формате Excel</a:t>
            </a:r>
          </a:p>
        </p:txBody>
      </p:sp>
    </p:spTree>
    <p:extLst>
      <p:ext uri="{BB962C8B-B14F-4D97-AF65-F5344CB8AC3E}">
        <p14:creationId xmlns:p14="http://schemas.microsoft.com/office/powerpoint/2010/main" val="386184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-243408"/>
            <a:ext cx="8229600" cy="114300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1384" y="882971"/>
            <a:ext cx="1094521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анализ, выделены сущности, построена ER‑диаграмма.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спроектирована в 3НФ, реализована в SQL Server (7 таблиц, 3 процедуры, 2 представления).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демоданными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(&gt;3300 записей).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WPF-приложение (CRUD, оценки, посещаемость, отчёты с экспортом).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Настроено резервное копирование (6 копий и скриптов).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к внедрению в образовательном учреждении.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970D0-FFA6-1231-790A-1CBBE4D1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28" y="-1714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8F6C73-8269-9282-573A-5A4938C63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93" y="726393"/>
            <a:ext cx="6156414" cy="6156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0725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621</Words>
  <Application>Microsoft Office PowerPoint</Application>
  <PresentationFormat>Широкоэкранный</PresentationFormat>
  <Paragraphs>114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Тема Office</vt:lpstr>
      <vt:lpstr>ПМ.11. Разработка, администрирование и защита баз данных Тема: «Учёт результатов тестирования учащихся»</vt:lpstr>
      <vt:lpstr> </vt:lpstr>
      <vt:lpstr> </vt:lpstr>
      <vt:lpstr> </vt:lpstr>
      <vt:lpstr> </vt:lpstr>
      <vt:lpstr> </vt:lpstr>
      <vt:lpstr> </vt:lpstr>
      <vt:lpstr> </vt:lpstr>
      <vt:lpstr> </vt:lpstr>
      <vt:lpstr>Заключение</vt:lpstr>
      <vt:lpstr>QR-код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 ПМ.02 Осуществление интеграции программных модулей</dc:title>
  <dc:creator>Prepod_1</dc:creator>
  <cp:lastModifiedBy>Дима Исупов</cp:lastModifiedBy>
  <cp:revision>7</cp:revision>
  <dcterms:created xsi:type="dcterms:W3CDTF">2023-05-12T10:02:04Z</dcterms:created>
  <dcterms:modified xsi:type="dcterms:W3CDTF">2026-05-24T16:46:19Z</dcterms:modified>
</cp:coreProperties>
</file>